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3"/>
  </p:normalViewPr>
  <p:slideViewPr>
    <p:cSldViewPr snapToGrid="0">
      <p:cViewPr varScale="1">
        <p:scale>
          <a:sx n="90" d="100"/>
          <a:sy n="90" d="100"/>
        </p:scale>
        <p:origin x="21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5B805-EDFE-6C44-8A4B-6BC1E281851E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96D21A-578D-1B4D-A54C-F6D6303F1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48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of low access areas</a:t>
            </a:r>
          </a:p>
          <a:p>
            <a:r>
              <a:rPr lang="en-US" dirty="0"/>
              <a:t>Chart showing overall target areas</a:t>
            </a:r>
          </a:p>
          <a:p>
            <a:r>
              <a:rPr lang="en-US" dirty="0"/>
              <a:t>Map for each subgroup</a:t>
            </a:r>
          </a:p>
          <a:p>
            <a:r>
              <a:rPr lang="en-US" dirty="0"/>
              <a:t>Chart showing each subgroup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6D21A-578D-1B4D-A54C-F6D6303F19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2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6D21A-578D-1B4D-A54C-F6D6303F19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54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B7BD-54DA-4F8D-38AE-999DE3638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639097"/>
            <a:ext cx="6446205" cy="37811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/>
              <a:t>Strategic Analysis for the National Medicare Advantage Health Plan</a:t>
            </a:r>
          </a:p>
        </p:txBody>
      </p:sp>
      <p:sp>
        <p:nvSpPr>
          <p:cNvPr id="1036" name="Freeform: Shape 1030">
            <a:extLst>
              <a:ext uri="{FF2B5EF4-FFF2-40B4-BE49-F238E27FC236}">
                <a16:creationId xmlns:a16="http://schemas.microsoft.com/office/drawing/2014/main" id="{B95EB505-AE12-4878-88D1-3A93384E0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896681"/>
            <a:ext cx="12188952" cy="1961319"/>
          </a:xfrm>
          <a:custGeom>
            <a:avLst/>
            <a:gdLst>
              <a:gd name="connsiteX0" fmla="*/ 0 w 12188952"/>
              <a:gd name="connsiteY0" fmla="*/ 0 h 1961319"/>
              <a:gd name="connsiteX1" fmla="*/ 1996017 w 12188952"/>
              <a:gd name="connsiteY1" fmla="*/ 0 h 1961319"/>
              <a:gd name="connsiteX2" fmla="*/ 2377017 w 12188952"/>
              <a:gd name="connsiteY2" fmla="*/ 263783 h 1961319"/>
              <a:gd name="connsiteX3" fmla="*/ 2385484 w 12188952"/>
              <a:gd name="connsiteY3" fmla="*/ 266713 h 1961319"/>
              <a:gd name="connsiteX4" fmla="*/ 2398184 w 12188952"/>
              <a:gd name="connsiteY4" fmla="*/ 271110 h 1961319"/>
              <a:gd name="connsiteX5" fmla="*/ 2410883 w 12188952"/>
              <a:gd name="connsiteY5" fmla="*/ 275506 h 1961319"/>
              <a:gd name="connsiteX6" fmla="*/ 2421467 w 12188952"/>
              <a:gd name="connsiteY6" fmla="*/ 275506 h 1961319"/>
              <a:gd name="connsiteX7" fmla="*/ 2434167 w 12188952"/>
              <a:gd name="connsiteY7" fmla="*/ 275506 h 1961319"/>
              <a:gd name="connsiteX8" fmla="*/ 2444750 w 12188952"/>
              <a:gd name="connsiteY8" fmla="*/ 271110 h 1961319"/>
              <a:gd name="connsiteX9" fmla="*/ 2457450 w 12188952"/>
              <a:gd name="connsiteY9" fmla="*/ 266713 h 1961319"/>
              <a:gd name="connsiteX10" fmla="*/ 2465917 w 12188952"/>
              <a:gd name="connsiteY10" fmla="*/ 263783 h 1961319"/>
              <a:gd name="connsiteX11" fmla="*/ 2846917 w 12188952"/>
              <a:gd name="connsiteY11" fmla="*/ 0 h 1961319"/>
              <a:gd name="connsiteX12" fmla="*/ 12188952 w 12188952"/>
              <a:gd name="connsiteY12" fmla="*/ 0 h 1961319"/>
              <a:gd name="connsiteX13" fmla="*/ 12188952 w 12188952"/>
              <a:gd name="connsiteY13" fmla="*/ 1264506 h 1961319"/>
              <a:gd name="connsiteX14" fmla="*/ 12188952 w 12188952"/>
              <a:gd name="connsiteY14" fmla="*/ 1917775 h 1961319"/>
              <a:gd name="connsiteX15" fmla="*/ 12188952 w 12188952"/>
              <a:gd name="connsiteY15" fmla="*/ 1961319 h 1961319"/>
              <a:gd name="connsiteX16" fmla="*/ 0 w 12188952"/>
              <a:gd name="connsiteY16" fmla="*/ 1961319 h 1961319"/>
              <a:gd name="connsiteX17" fmla="*/ 0 w 12188952"/>
              <a:gd name="connsiteY17" fmla="*/ 1917775 h 1961319"/>
              <a:gd name="connsiteX18" fmla="*/ 0 w 12188952"/>
              <a:gd name="connsiteY18" fmla="*/ 1264506 h 1961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88952" h="1961319">
                <a:moveTo>
                  <a:pt x="0" y="0"/>
                </a:moveTo>
                <a:lnTo>
                  <a:pt x="1996017" y="0"/>
                </a:lnTo>
                <a:lnTo>
                  <a:pt x="2377017" y="263783"/>
                </a:lnTo>
                <a:lnTo>
                  <a:pt x="2385484" y="266713"/>
                </a:lnTo>
                <a:lnTo>
                  <a:pt x="2398184" y="271110"/>
                </a:lnTo>
                <a:lnTo>
                  <a:pt x="2410883" y="275506"/>
                </a:lnTo>
                <a:lnTo>
                  <a:pt x="2421467" y="275506"/>
                </a:lnTo>
                <a:lnTo>
                  <a:pt x="2434167" y="275506"/>
                </a:lnTo>
                <a:lnTo>
                  <a:pt x="2444750" y="271110"/>
                </a:lnTo>
                <a:lnTo>
                  <a:pt x="2457450" y="266713"/>
                </a:lnTo>
                <a:lnTo>
                  <a:pt x="2465917" y="263783"/>
                </a:lnTo>
                <a:lnTo>
                  <a:pt x="2846917" y="0"/>
                </a:lnTo>
                <a:lnTo>
                  <a:pt x="12188952" y="0"/>
                </a:lnTo>
                <a:lnTo>
                  <a:pt x="12188952" y="1264506"/>
                </a:lnTo>
                <a:lnTo>
                  <a:pt x="12188952" y="1917775"/>
                </a:lnTo>
                <a:lnTo>
                  <a:pt x="12188952" y="1961319"/>
                </a:lnTo>
                <a:lnTo>
                  <a:pt x="0" y="1961319"/>
                </a:lnTo>
                <a:lnTo>
                  <a:pt x="0" y="1917775"/>
                </a:lnTo>
                <a:lnTo>
                  <a:pt x="0" y="1264506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CAFA9-F1F1-8646-DFA5-BE8E114DC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6446205" cy="78565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Welcome, Chief Medical Officer!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12BC7B8-5515-40FA-A38E-1054E2061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1342" y="0"/>
            <a:ext cx="465065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ounded Rectangle 14">
            <a:extLst>
              <a:ext uri="{FF2B5EF4-FFF2-40B4-BE49-F238E27FC236}">
                <a16:creationId xmlns:a16="http://schemas.microsoft.com/office/drawing/2014/main" id="{DD55F7DD-ACF1-44A0-B9B5-FC5A87544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4806" y="958640"/>
            <a:ext cx="3363730" cy="4945244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N1 Health | LinkedIn">
            <a:extLst>
              <a:ext uri="{FF2B5EF4-FFF2-40B4-BE49-F238E27FC236}">
                <a16:creationId xmlns:a16="http://schemas.microsoft.com/office/drawing/2014/main" id="{4BFEB72D-6B17-13F9-4209-EA07DAF89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75406" y="2030569"/>
            <a:ext cx="2767153" cy="276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347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A30E-2B18-4994-8D24-B61592118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questions are we trying to answer?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C7DFE-C1B1-D9BD-0320-B9D40033D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concentrated is need geographically?</a:t>
            </a:r>
          </a:p>
          <a:p>
            <a:r>
              <a:rPr lang="en-US" dirty="0"/>
              <a:t>Where should we deploy a food access program?</a:t>
            </a:r>
          </a:p>
          <a:p>
            <a:r>
              <a:rPr lang="en-US" dirty="0"/>
              <a:t>Which subgroup of the population might be benefited the most?</a:t>
            </a:r>
          </a:p>
          <a:p>
            <a:r>
              <a:rPr lang="en-US" dirty="0"/>
              <a:t>Which areas are showing overlapping health and food risk access?</a:t>
            </a:r>
          </a:p>
          <a:p>
            <a:r>
              <a:rPr lang="en-US" dirty="0"/>
              <a:t>How many people will be included? How many might be successfully engaged?</a:t>
            </a:r>
          </a:p>
          <a:p>
            <a:r>
              <a:rPr lang="en-US" dirty="0"/>
              <a:t>What does projected impact look like?</a:t>
            </a:r>
          </a:p>
        </p:txBody>
      </p:sp>
    </p:spTree>
    <p:extLst>
      <p:ext uri="{BB962C8B-B14F-4D97-AF65-F5344CB8AC3E}">
        <p14:creationId xmlns:p14="http://schemas.microsoft.com/office/powerpoint/2010/main" val="3173711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D956-25E9-293E-F7DD-128BED22C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170527"/>
            <a:ext cx="8915399" cy="1657350"/>
          </a:xfrm>
        </p:spPr>
        <p:txBody>
          <a:bodyPr/>
          <a:lstStyle/>
          <a:p>
            <a:r>
              <a:rPr lang="en-US" dirty="0"/>
              <a:t>Low Food Access Data: Food Environment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96DDF-1F8F-5BD0-3801-67C11EF04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County/county equivalent for all 50 states.</a:t>
            </a:r>
          </a:p>
          <a:p>
            <a:r>
              <a:rPr lang="en-US" dirty="0"/>
              <a:t>Access and Proximity to food store</a:t>
            </a:r>
          </a:p>
          <a:p>
            <a:r>
              <a:rPr lang="en-US" dirty="0"/>
              <a:t>Number of people in a county who are living more than 1 mile from a </a:t>
            </a:r>
            <a:r>
              <a:rPr lang="en-US" dirty="0" err="1"/>
              <a:t>foodstore</a:t>
            </a:r>
            <a:r>
              <a:rPr lang="en-US" dirty="0"/>
              <a:t> if in an urban area or more than 10 miles from a </a:t>
            </a:r>
            <a:r>
              <a:rPr lang="en-US" dirty="0" err="1"/>
              <a:t>foodstore</a:t>
            </a:r>
            <a:r>
              <a:rPr lang="en-US" dirty="0"/>
              <a:t> if in a rural area.</a:t>
            </a:r>
          </a:p>
          <a:p>
            <a:r>
              <a:rPr lang="en-US" dirty="0"/>
              <a:t>Measured in Counts and Percents in 2010</a:t>
            </a:r>
          </a:p>
          <a:p>
            <a:r>
              <a:rPr lang="en-US" dirty="0"/>
              <a:t>Measured for different subgroups: low income, no car, children, seniors</a:t>
            </a:r>
          </a:p>
        </p:txBody>
      </p:sp>
    </p:spTree>
    <p:extLst>
      <p:ext uri="{BB962C8B-B14F-4D97-AF65-F5344CB8AC3E}">
        <p14:creationId xmlns:p14="http://schemas.microsoft.com/office/powerpoint/2010/main" val="3679129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0FB95-62D3-6C17-0030-D2BDD4AE9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Breakdown of Low Food Access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760C6-46E6-F9F0-4F79-67908122F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 of low access areas concentration (based on percents)</a:t>
            </a:r>
          </a:p>
          <a:p>
            <a:r>
              <a:rPr lang="en-US" dirty="0"/>
              <a:t>Chart showing overall target areas</a:t>
            </a:r>
          </a:p>
          <a:p>
            <a:r>
              <a:rPr lang="en-US" dirty="0"/>
              <a:t>Understanding overall counts</a:t>
            </a:r>
          </a:p>
          <a:p>
            <a:r>
              <a:rPr lang="en-US" dirty="0"/>
              <a:t>Map for each subgroup</a:t>
            </a:r>
          </a:p>
          <a:p>
            <a:r>
              <a:rPr lang="en-US" dirty="0"/>
              <a:t>Chart showing each subgroup (based on percents)</a:t>
            </a:r>
          </a:p>
          <a:p>
            <a:r>
              <a:rPr lang="en-US" dirty="0"/>
              <a:t>Counts in each subgroup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857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3E3B3-710F-14F2-C21F-E3F2D2AD9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Targeting further affected populations: Building a Health Issue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B132C-F018-36C7-E2BF-ADBF4D064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Lack of food access often leads to health issues caused by lack of nutritional food in combination with other unhealthy lifestyle habits.</a:t>
            </a:r>
          </a:p>
          <a:p>
            <a:r>
              <a:rPr lang="en-US" dirty="0"/>
              <a:t>To quantify this, we can use the 500 cities dataset. This dataset carries information regarding certain health indicators and their crude prevalence at the tract level for 500 cities.</a:t>
            </a:r>
          </a:p>
          <a:p>
            <a:r>
              <a:rPr lang="en-US" dirty="0"/>
              <a:t>We will build a health index that averages selected, nutrition dependent measures. </a:t>
            </a:r>
          </a:p>
          <a:p>
            <a:r>
              <a:rPr lang="en-US" dirty="0"/>
              <a:t>Rank tracts in percentiles for both</a:t>
            </a:r>
          </a:p>
          <a:p>
            <a:r>
              <a:rPr lang="en-US" dirty="0"/>
              <a:t>We will look at top quartile in both measures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678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C0284-167C-3B01-0C0A-7DF81F190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Areas to Target and Projected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B2DBF-B230-D711-4397-C0BF7E854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Areas with high health overlap and just high percentage of low access </a:t>
            </a:r>
          </a:p>
          <a:p>
            <a:r>
              <a:rPr lang="en-US" dirty="0"/>
              <a:t>Check counts for these areas to get total number of projected impact</a:t>
            </a:r>
          </a:p>
          <a:p>
            <a:r>
              <a:rPr lang="en-US" dirty="0"/>
              <a:t>People with high overlap will probably have the most engagement.</a:t>
            </a:r>
          </a:p>
        </p:txBody>
      </p:sp>
    </p:spTree>
    <p:extLst>
      <p:ext uri="{BB962C8B-B14F-4D97-AF65-F5344CB8AC3E}">
        <p14:creationId xmlns:p14="http://schemas.microsoft.com/office/powerpoint/2010/main" val="2530022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511</TotalTime>
  <Words>361</Words>
  <Application>Microsoft Macintosh PowerPoint</Application>
  <PresentationFormat>Widescreen</PresentationFormat>
  <Paragraphs>38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Century Gothic</vt:lpstr>
      <vt:lpstr>Wingdings 2</vt:lpstr>
      <vt:lpstr>Quotable</vt:lpstr>
      <vt:lpstr>Strategic Analysis for the National Medicare Advantage Health Plan</vt:lpstr>
      <vt:lpstr>What questions are we trying to answer?</vt:lpstr>
      <vt:lpstr>Low Food Access Data: Food Environment Atlas</vt:lpstr>
      <vt:lpstr>Understanding the Breakdown of Low Food Access Areas</vt:lpstr>
      <vt:lpstr>Targeting further affected populations: Building a Health Issue Index</vt:lpstr>
      <vt:lpstr>Summary of Areas to Target and Projected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Bangalore, Neha</dc:creator>
  <cp:lastModifiedBy>Bangalore, Neha</cp:lastModifiedBy>
  <cp:revision>1</cp:revision>
  <dcterms:created xsi:type="dcterms:W3CDTF">2025-12-24T21:29:58Z</dcterms:created>
  <dcterms:modified xsi:type="dcterms:W3CDTF">2025-12-25T06:01:32Z</dcterms:modified>
</cp:coreProperties>
</file>